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2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0"/>
            <a:ext cx="2834640" cy="6858000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600" b="1">
                <a:solidFill>
                  <a:srgbClr val="82DCD5"/>
                </a:solidFill>
                <a:latin typeface="Aptos"/>
              </a:defRPr>
            </a:pPr>
            <a:r>
              <a:t>INTELLIGENT SYSTEMS • 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406640" cy="1463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Warehouse Delivery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6858000" cy="8229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200" b="0">
                <a:solidFill>
                  <a:srgbClr val="E1EBF5"/>
                </a:solidFill>
                <a:latin typeface="Aptos"/>
              </a:defRPr>
            </a:pPr>
            <a:r>
              <a:t>Search Algorithms Report</a:t>
            </a:r>
          </a:p>
          <a:p>
            <a:pPr>
              <a:defRPr sz="2200" b="0">
                <a:solidFill>
                  <a:srgbClr val="E1EBF5"/>
                </a:solidFill>
                <a:latin typeface="Aptos"/>
              </a:defRPr>
            </a:pPr>
            <a:r>
              <a:t>UCS vs. 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704088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823960" y="2057400"/>
            <a:ext cx="2743200" cy="20116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onsolas"/>
              </a:defRPr>
            </a:pPr>
            <a:r>
              <a:t>S  .  .  #  .</a:t>
            </a:r>
          </a:p>
          <a:p>
            <a:pPr>
              <a:defRPr sz="2100" b="1">
                <a:solidFill>
                  <a:srgbClr val="FFFFFF"/>
                </a:solidFill>
                <a:latin typeface="Consolas"/>
              </a:defRPr>
            </a:pPr>
            <a:r>
              <a:t>#  #  *  #  .</a:t>
            </a:r>
          </a:p>
          <a:p>
            <a:pPr>
              <a:defRPr sz="2100" b="1">
                <a:solidFill>
                  <a:srgbClr val="FFFFFF"/>
                </a:solidFill>
                <a:latin typeface="Consolas"/>
              </a:defRPr>
            </a:pPr>
            <a:r>
              <a:t>.  .  *  * 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663440"/>
            <a:ext cx="292608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 = Start     G = Goal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* = Selected path</a:t>
            </a:r>
          </a:p>
        </p:txBody>
      </p:sp>
      <p:pic>
        <p:nvPicPr>
          <p:cNvPr id="10" name="Picture 9" descr="warehouse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81328"/>
            <a:ext cx="3063240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1.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What the robot must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6492240" cy="42976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Find a path from start cell S to goal cell G on a grid.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The robot moves one cell at a time: Up, Down, Left, or Right.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Walls (#) cannot be entered.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Normal floor (.) costs 1; rough floor (~) costs 3 to enter.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The start cell is not charged. Entering the goal costs 1.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The implementation scans the map to find S and 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874519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2F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19" y="196596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2F64A0"/>
                </a:solidFill>
                <a:latin typeface="Aptos"/>
              </a:defRPr>
            </a:pPr>
            <a:r>
              <a:t>S/G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39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Start /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874519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218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19" y="196596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218B87"/>
                </a:solidFill>
                <a:latin typeface="Aptos"/>
              </a:defRPr>
            </a:pPr>
            <a: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377439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Normal • cost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200400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D3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329184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D38530"/>
                </a:solidFill>
                <a:latin typeface="Aptos"/>
              </a:defRPr>
            </a:pPr>
            <a:r>
              <a:t>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Rough • cost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3200400"/>
            <a:ext cx="1600200" cy="1005840"/>
          </a:xfrm>
          <a:prstGeom prst="roundRect">
            <a:avLst/>
          </a:prstGeom>
          <a:solidFill>
            <a:srgbClr val="EEF4FA"/>
          </a:solidFill>
          <a:ln>
            <a:solidFill>
              <a:srgbClr val="5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329184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000" b="1">
                <a:solidFill>
                  <a:srgbClr val="5F6C7A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703320"/>
            <a:ext cx="15087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0">
                <a:solidFill>
                  <a:srgbClr val="232D3A"/>
                </a:solidFill>
                <a:latin typeface="Aptos"/>
              </a:defRPr>
            </a:pPr>
            <a:r>
              <a:t>Wall •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2</a:t>
            </a:r>
          </a:p>
        </p:txBody>
      </p:sp>
      <p:pic>
        <p:nvPicPr>
          <p:cNvPr id="19" name="Picture 18" descr="MAP_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26280"/>
            <a:ext cx="36118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2. Search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Both algorithms are implemented without a path-finding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100" b="1">
                <a:solidFill>
                  <a:srgbClr val="2F64A0"/>
                </a:solidFill>
                <a:latin typeface="Aptos"/>
              </a:defRPr>
            </a:pPr>
            <a:r>
              <a:t>Uniform Cost Search (UCS)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5029200" cy="30175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Expands the frontier node with the lowest cost so far, g(n).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Uses a priority queue (heap).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Finds a least-cost path when movement costs are non-negative.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02920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100" b="1">
                <a:solidFill>
                  <a:srgbClr val="218B87"/>
                </a:solidFill>
                <a:latin typeface="Aptos"/>
              </a:defRPr>
            </a:pPr>
            <a:r>
              <a:t>A*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4937760" cy="30175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Ranks nodes using f(n) = g(n) + h(n).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g(n) is the cost already paid; h(n) estimates the remaining distance.</a:t>
            </a:r>
          </a:p>
          <a:p>
            <a:pPr>
              <a:spcAft>
                <a:spcPts val="12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The code uses Manhattan distance as h(n).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700" b="1">
                <a:solidFill>
                  <a:srgbClr val="142746"/>
                </a:solidFill>
                <a:latin typeface="Aptos"/>
              </a:defRPr>
            </a:pPr>
            <a:r>
              <a:t>Manhattan distance: |row − goal_row| + |column − goal_column|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3. Test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The three maps provided in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74720" cy="3611880"/>
          </a:xfrm>
          <a:prstGeom prst="roundRect">
            <a:avLst/>
          </a:prstGeom>
          <a:solidFill>
            <a:srgbClr val="EEF4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900" b="1">
                <a:solidFill>
                  <a:srgbClr val="142746"/>
                </a:solidFill>
                <a:latin typeface="Aptos"/>
              </a:defRPr>
            </a:pPr>
            <a:r>
              <a:t>MAP_A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21945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100" b="0">
                <a:solidFill>
                  <a:srgbClr val="5F6C7A"/>
                </a:solidFill>
                <a:latin typeface="Aptos"/>
              </a:defRPr>
            </a:pPr>
            <a:r>
              <a:t>Reachable goal with rough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474720" cy="3611880"/>
          </a:xfrm>
          <a:prstGeom prst="roundRect">
            <a:avLst/>
          </a:prstGeom>
          <a:solidFill>
            <a:srgbClr val="EEF4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900" b="1">
                <a:solidFill>
                  <a:srgbClr val="142746"/>
                </a:solidFill>
                <a:latin typeface="Aptos"/>
              </a:defRPr>
            </a:pPr>
            <a:r>
              <a:t>MAP_B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3108960" cy="21945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709160" y="470916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100" b="0">
                <a:solidFill>
                  <a:srgbClr val="5F6C7A"/>
                </a:solidFill>
                <a:latin typeface="Aptos"/>
              </a:defRPr>
            </a:pPr>
            <a:r>
              <a:t>A short but expensive top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474720" cy="3611880"/>
          </a:xfrm>
          <a:prstGeom prst="roundRect">
            <a:avLst/>
          </a:prstGeom>
          <a:solidFill>
            <a:srgbClr val="EEF4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874519"/>
            <a:ext cx="31089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900" b="1">
                <a:solidFill>
                  <a:srgbClr val="142746"/>
                </a:solidFill>
                <a:latin typeface="Aptos"/>
              </a:defRPr>
            </a:pPr>
            <a:r>
              <a:t>MAP_C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3108960" cy="21945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500" b="0">
                <a:solidFill>
                  <a:srgbClr val="232D3A"/>
                </a:solidFill>
                <a:latin typeface="Consola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49640" y="4709160"/>
            <a:ext cx="32004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100" b="0">
                <a:solidFill>
                  <a:srgbClr val="5F6C7A"/>
                </a:solidFill>
                <a:latin typeface="Aptos"/>
              </a:defRPr>
            </a:pPr>
            <a:r>
              <a:t>No valid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1014984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600" b="1">
                <a:solidFill>
                  <a:srgbClr val="218B87"/>
                </a:solidFill>
                <a:latin typeface="Aptos"/>
              </a:defRPr>
            </a:pPr>
            <a:r>
              <a:t>The code runs both UCS and A* on every map.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4</a:t>
            </a:r>
          </a:p>
        </p:txBody>
      </p:sp>
      <p:pic>
        <p:nvPicPr>
          <p:cNvPr id="19" name="Picture 18" descr="MAP_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331720"/>
            <a:ext cx="3154680" cy="2057400"/>
          </a:xfrm>
          <a:prstGeom prst="rect">
            <a:avLst/>
          </a:prstGeom>
        </p:spPr>
      </p:pic>
      <p:pic>
        <p:nvPicPr>
          <p:cNvPr id="20" name="Picture 19" descr="MAP_B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331720"/>
            <a:ext cx="3154680" cy="2057400"/>
          </a:xfrm>
          <a:prstGeom prst="rect">
            <a:avLst/>
          </a:prstGeom>
        </p:spPr>
      </p:pic>
      <p:pic>
        <p:nvPicPr>
          <p:cNvPr id="21" name="Picture 20" descr="MAP_C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331720"/>
            <a:ext cx="315468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4. Results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Values collected by running the submitted omar.py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9164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50945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Moves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Expanded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 frontier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 (s)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0.000066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MAP_B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0.000046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MAP_C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0.000019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0.000020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48640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5F6C7A"/>
                </a:solidFill>
                <a:latin typeface="Aptos"/>
              </a:defRPr>
            </a:pPr>
            <a:r>
              <a:t>Run time is machine- and run-dependent; the displayed times are from one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5. Path Visualisation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Asterisks (*) mark the selected path; S and G remain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142746"/>
                </a:solidFill>
                <a:latin typeface="Aptos"/>
              </a:defRPr>
            </a:pPr>
            <a:r>
              <a:t>MAP_A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383280" cy="24231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329184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1">
                <a:solidFill>
                  <a:srgbClr val="218B87"/>
                </a:solidFill>
                <a:latin typeface="Aptos"/>
              </a:defRPr>
            </a:pPr>
            <a:r>
              <a:t>Cost = 15 • 11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47472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142746"/>
                </a:solidFill>
                <a:latin typeface="Aptos"/>
              </a:defRPr>
            </a:pPr>
            <a:r>
              <a:t>MAP_B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3383280" cy="24231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63440" y="4937760"/>
            <a:ext cx="329184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1">
                <a:solidFill>
                  <a:srgbClr val="218B87"/>
                </a:solidFill>
                <a:latin typeface="Aptos"/>
              </a:defRPr>
            </a:pPr>
            <a:r>
              <a:t>Cost = 12 • 12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47472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800" b="1">
                <a:solidFill>
                  <a:srgbClr val="142746"/>
                </a:solidFill>
                <a:latin typeface="Aptos"/>
              </a:defRPr>
            </a:pPr>
            <a:r>
              <a:t>MAP_C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40280"/>
            <a:ext cx="3383280" cy="24231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400" b="0">
                <a:solidFill>
                  <a:srgbClr val="232D3A"/>
                </a:solidFill>
                <a:latin typeface="Consola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503920" y="4937760"/>
            <a:ext cx="329184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1">
                <a:solidFill>
                  <a:srgbClr val="D38530"/>
                </a:solidFill>
                <a:latin typeface="Aptos"/>
              </a:defRPr>
            </a:pPr>
            <a:r>
              <a:t>No path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300" b="0">
                <a:solidFill>
                  <a:srgbClr val="5F6C7A"/>
                </a:solidFill>
                <a:latin typeface="Aptos"/>
              </a:defRPr>
            </a:pPr>
            <a:r>
              <a:t>UCS returns the same optimal costs and path lengths for these maps.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6</a:t>
            </a:r>
          </a:p>
        </p:txBody>
      </p:sp>
      <p:pic>
        <p:nvPicPr>
          <p:cNvPr id="16" name="Picture 15" descr="MAP_A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3154680" cy="2148840"/>
          </a:xfrm>
          <a:prstGeom prst="rect">
            <a:avLst/>
          </a:prstGeom>
        </p:spPr>
      </p:pic>
      <p:pic>
        <p:nvPicPr>
          <p:cNvPr id="17" name="Picture 16" descr="MAP_B_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148840"/>
            <a:ext cx="3154680" cy="2148840"/>
          </a:xfrm>
          <a:prstGeom prst="rect">
            <a:avLst/>
          </a:prstGeom>
        </p:spPr>
      </p:pic>
      <p:pic>
        <p:nvPicPr>
          <p:cNvPr id="18" name="Picture 17" descr="MAP_C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148840"/>
            <a:ext cx="315468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6. Comparison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What the results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2519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Path cost: UCS and A* found the same costs on MAP_A (15) and MAP_B (12).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MAP_B trap: the direct top-row route takes 8 moves but costs 22; the chosen route takes 12 moves and costs 12.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Nodes expanded: A* expanded fewer nodes on MAP_A (20 vs. 27) and MAP_B (14 vs. 29).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MAP_C: both algorithms correctly reported that no path exists.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Choice: A* is a good choice for this robot because it found the same least costs while expanding fewer nodes on the two solvable 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56235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0">
                <a:solidFill>
                  <a:srgbClr val="5F6C7A"/>
                </a:solidFill>
                <a:latin typeface="Aptos"/>
              </a:defRPr>
            </a:pPr>
            <a:r>
              <a:t>MAP_C: both algorithms expanded 13 nodes; no path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343400"/>
            <a:ext cx="489204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6"/>
                </a:solidFill>
                <a:latin typeface="Aptos Display"/>
              </a:defRPr>
            </a:pPr>
            <a:r>
              <a:t>7. Test Cases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A"/>
                </a:solidFill>
                <a:latin typeface="Aptos"/>
              </a:defRPr>
            </a:pPr>
            <a:r>
              <a:t>Full test case descriptions are provided in the separate Test Cases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54864"/>
          </a:xfrm>
          <a:prstGeom prst="rect">
            <a:avLst/>
          </a:prstGeom>
          <a:solidFill>
            <a:srgbClr val="218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/ verified result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4274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MAP_A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UCS and A* find path; cost 15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Cheapest route cost 12, not direct cost 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TC-03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MAP_C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No path found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S~G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Path cost = 4 (3 + 1)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TC-05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S.G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Path cost = 2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S#G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No path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TC-07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Missing S or G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Search returns no path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0">
                <a:solidFill>
                  <a:srgbClr val="5F6C7A"/>
                </a:solidFill>
                <a:latin typeface="Aptos"/>
              </a:defRPr>
            </a:pPr>
            <a:r>
              <a:t>Intelligent Systems • Task 1 • Warehouse Delivery Robot                                  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